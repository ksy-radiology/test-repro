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CNS5 이후 나온 cIMPACT-NOW update를 짧게 정리.
- Update 8: 수막종 grading. 1p del + 22q del/NF2 → grade 2 제안.
- Update 9: methylation classifier 사용 원칙.
- Update 10: 새 tumor type을 인정하는 기준. 기준 미충족 시 NEC로 보고.
- Update 11: 40세 미만에서 EGFR amp나 +7/-10만으로 GBM 진단하지 말 것 (pediatric-type HGG 감별).
- 오늘 핵심인 Update 12: IDH-mutant glioma grading 개정.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12 grading algorithm (Brat et al. 2026).
1) MVP, necrosis, CDKN2A/B HD, 그리고 새로 PDGFRA amplification 중 하나라도 있으면 grade 4.
2) 없으면 mitotic count ≥3/2.4 mm²이면 grade 3, 아니면 grade 2.
3) 주황 박스: grade 3를 시사하는 분자 변화 (CDK4/6, CCND2 amp, RB1, PIK3CA/PIK3R1, EGFR, MYCN, methylation A_IDH_HG/G-CIMP-low).
4) Oligodendroglioma는 grading을 바꿀 근거가 없었다고 결론.
※ 그림 출처: Park YW, ..., Park JE. Imaging of IDH-Mutant Gliomas in the Era of IDH Inhibitors: What Radiologists Need to Know. Korean J Radiol 2026 (in press) Fig. 2를 다시 그림. 기준 원문은 Brat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PDGFRA amplification이 grade 4 criterion이 된 근거.
- Validation (Richardson 2026, 1,140명): PDGFRA amp으로 grade 4가 된 군의 median OS 51.4개월, grade 3 유지군은 126.2개월 (HR 1.9). Grade 2→4 7례, 3→4 15례.
- Yang 2019 (160명, FISH): PDGFRA amp 18.8%, CDKN2A HD 15.0%, CDK4 amp 18.1%로 서로 겹치지 않음. 3 risk group의 mean OS 40.5/62.9/71.5개월.
- CATNON (Tesileanu 2021): IDH-mut anaplastic astrocytoma 432명에서 PDGFRA amp는 독립 예후인자.
- 실제 진료 (Tauziède-Espariat 2026): 50례 중 12례 (24%)에서 grade 변경, grade 3→4가 3례.
- 검출: NGS, methylation array CNV, FISH 등. IHC를 screening에 쓰자는 보고 (Brain Pathol 2026).
※ CATNON final analysis: PDGFRA amp는 예후 인자이지만 TMZ 효과의 predictive marker는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(증례 영상을 placeholder 자리에 넣어 주세요.)
- T2-FLAIR mismatch: 특이도는 높지만 민감도는 낮음. ≥55세 cohort에서 grade 2의 25%에서만 보였고 grade 3/4에서는 없었음 (Alfattal 2026). CDKN2A HD 증례가 mismatch-negative와 연관 (Ozono 2026).
- Enhancement 여부만으로 grade를 판단할 수 없음 (위 cohort에서 grade 2의 50%가 enhancement).
- Non-enhancing glioma에서 rCBV는 grade 4 구분 AUC 0.718 (Imai 2025).
- CDKN2A HD 예측: poorly defined enhancing margin (OR 13.19, Yang AJNR 2025).
- PDGFRA amp에 특이적인 영상 소견은 아직 확립된 근거가 없음. 이 증례처럼 ADC/CBV가 조직 grade보다 aggressive하면 병리에 feedback을 주는 것이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증례: 처음에는 조직학적으로 grade 3. 영상에서 ADC/CBV상 aggressive해 병리에 feedback → PDGFRA amplification 확인 → cIMPACT-NOW 12에 따라 grade 4로 재판독 → CCRT 시행.
- Grade 3 IDH-mut astrocytoma: CATNON에서 adjuvant TMZ는 생존 이득 (IDH-mut에서 median OS 12.5 vs 6.0년, HR 0.54), concurrent TMZ는 유의한 이득 없음 (HR 0.81, NS).
- Grade 2: INDIGO에서 vorasidenib이 PFS 27.7 vs 11.1개월로 개선 (잔존 non-enhancing grade 2 대상). FDA 2024년 8월, 국내 식약처 2026년 1월 허가 (Park YW, KJR 2026). Grade 4로 바뀌면 대상이 아님.
- Grade 4: 고등급 치료 (RT + TMZ).
- 메시지: 영상의학과의 feedback이 molecular upgrade와 치료 변경으로 이어진 증례.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_TITLE_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cIMPACT-NOW after WHO CNS5 (2021)</a:t>
            </a:r>
            <a:endParaRPr lang="en-US" sz="2600" dirty="0"/>
          </a:p>
        </p:txBody>
      </p:sp>
      <p:sp>
        <p:nvSpPr>
          <p:cNvPr id="3" name="CNS5 baseline"/>
          <p:cNvSpPr txBox="1"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26262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000"/>
                </a:solidFill>
              </a:rPr>
              <a:t>WHO CNS5 기준점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Astrocytoma, IDH-mutant = 하나의 type, CNS WHO grade 2–4 / CDKN2A/B homozygous deletion → 조직 소견과 무관하게 grade 4</a:t>
            </a:r>
            <a:endParaRPr lang="en-US" sz="1300" dirty="0"/>
          </a:p>
        </p:txBody>
      </p:sp>
      <p:graphicFrame>
        <p:nvGraphicFramePr>
          <p:cNvPr id="2" name="Updat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17320"/>
                <a:gridCol w="1783080"/>
                <a:gridCol w="4480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내용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Neuro-Oncol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 grading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 형태라도 1p deletion + 22q del and/or NF2 → grade 2 제안, brain invasion 판정 표준화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Neuro-Oncol Adv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methylation profiling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Classifier는 integrated diagnosis의 한 도구 (단독 진단 X), layered report 작성 예시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Pathol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tumor type 정의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phenotype + methylation cluster + driver + histology, ≥2 독립 보고 → 미충족 시 NEC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Pathol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IDH/H3-wt HGG, PF EPN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&lt;40세: EGFR amp·+7/−10 단독으로 GBM 진단 금지, TERTp 단독 저등급 → grade 4 신중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Neuro-Oncol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IDH-mutant glioma grading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PDGFRA amp → grade 4, mitosis ≥3/2.4 mm² → grade 3, grade 3 분자 marker 제시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00"/>
                    </a:solidFill>
                  </a:tcPr>
                </a:tc>
              </a:tr>
            </a:tbl>
          </a:graphicData>
        </a:graphic>
      </p:graphicFrame>
      <p:sp>
        <p:nvSpPr>
          <p:cNvPr id="5" name="Prior updates note"/>
          <p:cNvSpPr txBox="1"/>
          <p:nvPr/>
        </p:nvSpPr>
        <p:spPr>
          <a:xfrm>
            <a:off x="365760" y="5349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000"/>
                </a:solidFill>
              </a:rPr>
              <a:t>Update 1–7 (2018–2020)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은 WHO CNS5에 이미 반영됨 (예: update 3 molecular GBM, update 5 CDKN2A/B HD grading)</a:t>
            </a:r>
            <a:endParaRPr lang="en-US" sz="1200" dirty="0"/>
          </a:p>
        </p:txBody>
      </p:sp>
      <p:sp>
        <p:nvSpPr>
          <p:cNvPr id="6" name="Citation"/>
          <p:cNvSpPr txBox="1"/>
          <p:nvPr/>
        </p:nvSpPr>
        <p:spPr>
          <a:xfrm>
            <a:off x="2926080" y="6400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DN, Neuro-Oncol 2021;23:1231 · Sahm F, Neuro-Oncol 2025;27:319 · Aldape K, Neuro-Oncol Adv 2025;7:vdae228 · Hawkins C, Brain Pathol 2025;35:e70018 · Wesseling P, Brain Pathol 2026;36:e70035 · Brat DJ, Neuro-Oncol 2026;28:2069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cIMPACT-NOW Update 12: Grading of IDH-mutant Gliomas</a:t>
            </a:r>
            <a:endParaRPr lang="en-US" sz="2600" dirty="0"/>
          </a:p>
        </p:txBody>
      </p:sp>
      <p:sp>
        <p:nvSpPr>
          <p:cNvPr id="3" name="Astro header"/>
          <p:cNvSpPr txBox="1"/>
          <p:nvPr/>
        </p:nvSpPr>
        <p:spPr>
          <a:xfrm>
            <a:off x="274320" y="914400"/>
            <a:ext cx="5760720" cy="329184"/>
          </a:xfrm>
          <a:prstGeom prst="roundRect">
            <a:avLst>
              <a:gd name="adj" fmla="val 22222"/>
            </a:avLst>
          </a:prstGeom>
          <a:solidFill>
            <a:srgbClr val="1F3A4D"/>
          </a:solidFill>
          <a:ln w="12700">
            <a:solidFill>
              <a:srgbClr val="1F3A4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IDH-mutant astrocytoma</a:t>
            </a:r>
            <a:endParaRPr lang="en-US" sz="1300" dirty="0"/>
          </a:p>
        </p:txBody>
      </p:sp>
      <p:sp>
        <p:nvSpPr>
          <p:cNvPr id="4" name="Oligo header"/>
          <p:cNvSpPr txBox="1"/>
          <p:nvPr/>
        </p:nvSpPr>
        <p:spPr>
          <a:xfrm>
            <a:off x="6263640" y="914400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3A2A4D"/>
          </a:solidFill>
          <a:ln w="12700">
            <a:solidFill>
              <a:srgbClr val="3A2A4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Oligodendroglioma</a:t>
            </a:r>
            <a:endParaRPr lang="en-US" sz="1300" dirty="0"/>
          </a:p>
        </p:txBody>
      </p:sp>
      <p:sp>
        <p:nvSpPr>
          <p:cNvPr id="5" name="Grade 4 criteria"/>
          <p:cNvSpPr txBox="1"/>
          <p:nvPr/>
        </p:nvSpPr>
        <p:spPr>
          <a:xfrm>
            <a:off x="3429000" y="1417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B3A2B"/>
          </a:solidFill>
          <a:ln w="19050">
            <a:solidFill>
              <a:srgbClr val="FFC00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necrosis,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CDKN2A/B HD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and/or </a:t>
            </a:r>
            <a:pPr algn="ctr" indent="0" marL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PDGFRA amp</a:t>
            </a:r>
            <a:endParaRPr lang="en-US" sz="1200" dirty="0"/>
          </a:p>
        </p:txBody>
      </p:sp>
      <p:sp>
        <p:nvSpPr>
          <p:cNvPr id="6" name="Mitosis criterion"/>
          <p:cNvSpPr txBox="1"/>
          <p:nvPr/>
        </p:nvSpPr>
        <p:spPr>
          <a:xfrm>
            <a:off x="274320" y="15727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B3A2B"/>
          </a:solidFill>
          <a:ln w="12700">
            <a:solidFill>
              <a:srgbClr val="2B3A2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Mitotic activity ≥3 / 2.4 mm²</a:t>
            </a:r>
            <a:endParaRPr lang="en-US" sz="1200" dirty="0"/>
          </a:p>
        </p:txBody>
      </p:sp>
      <p:sp>
        <p:nvSpPr>
          <p:cNvPr id="7" name="Arrow"/>
          <p:cNvSpPr/>
          <p:nvPr/>
        </p:nvSpPr>
        <p:spPr>
          <a:xfrm flipH="1">
            <a:off x="2651760" y="1847088"/>
            <a:ext cx="777240" cy="91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907792" y="1600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N</a:t>
            </a:r>
            <a:endParaRPr lang="en-US" sz="1100" dirty="0"/>
          </a:p>
        </p:txBody>
      </p:sp>
      <p:sp>
        <p:nvSpPr>
          <p:cNvPr id="9" name="G2"/>
          <p:cNvSpPr txBox="1"/>
          <p:nvPr/>
        </p:nvSpPr>
        <p:spPr>
          <a:xfrm>
            <a:off x="13716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Astrocytoma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grade 2</a:t>
            </a:r>
            <a:endParaRPr lang="en-US" sz="1150" dirty="0"/>
          </a:p>
        </p:txBody>
      </p:sp>
      <p:sp>
        <p:nvSpPr>
          <p:cNvPr id="10" name="G3"/>
          <p:cNvSpPr txBox="1"/>
          <p:nvPr/>
        </p:nvSpPr>
        <p:spPr>
          <a:xfrm>
            <a:off x="187452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Astrocytoma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grade 3</a:t>
            </a:r>
            <a:endParaRPr lang="en-US" sz="1150" dirty="0"/>
          </a:p>
        </p:txBody>
      </p:sp>
      <p:sp>
        <p:nvSpPr>
          <p:cNvPr id="11" name="G4"/>
          <p:cNvSpPr txBox="1"/>
          <p:nvPr/>
        </p:nvSpPr>
        <p:spPr>
          <a:xfrm>
            <a:off x="3931920" y="297180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FFC000"/>
          </a:solidFill>
          <a:ln w="31750">
            <a:solidFill>
              <a:srgbClr val="E36C0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Astrocytoma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grade 4</a:t>
            </a:r>
            <a:endParaRPr lang="en-US" sz="1150" dirty="0"/>
          </a:p>
        </p:txBody>
      </p:sp>
      <p:sp>
        <p:nvSpPr>
          <p:cNvPr id="12" name="Arrow"/>
          <p:cNvSpPr/>
          <p:nvPr/>
        </p:nvSpPr>
        <p:spPr>
          <a:xfrm flipH="1">
            <a:off x="941832" y="2121408"/>
            <a:ext cx="201168" cy="85039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13232" y="2377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N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1783080" y="2121408"/>
            <a:ext cx="896112" cy="85039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331720" y="23774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Y</a:t>
            </a:r>
            <a:endParaRPr lang="en-US" sz="1100" dirty="0"/>
          </a:p>
        </p:txBody>
      </p:sp>
      <p:sp>
        <p:nvSpPr>
          <p:cNvPr id="16" name="Arrow"/>
          <p:cNvSpPr/>
          <p:nvPr/>
        </p:nvSpPr>
        <p:spPr>
          <a:xfrm>
            <a:off x="4727448" y="2286000"/>
            <a:ext cx="914" cy="6858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773168" y="2514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Y</a:t>
            </a:r>
            <a:endParaRPr lang="en-US" sz="1100" dirty="0"/>
          </a:p>
        </p:txBody>
      </p:sp>
      <p:sp>
        <p:nvSpPr>
          <p:cNvPr id="18" name="Grade 3 molecular"/>
          <p:cNvSpPr txBox="1"/>
          <p:nvPr/>
        </p:nvSpPr>
        <p:spPr>
          <a:xfrm>
            <a:off x="274320" y="36576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3D2614"/>
          </a:solidFill>
          <a:ln w="12700">
            <a:solidFill>
              <a:srgbClr val="E36C0A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</a:rPr>
              <a:t>Molecular alterations suggesting WHO grade 3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CDK4 / CDK6 / CCND2 amp, CDKN2A mutation, RB1 HD or mutation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PIK3CA / PIK3R1 mutation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EGFR alteration, MYCN amp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DNA methylation: A_IDH_HG or G-CIMP-low</a:t>
            </a:r>
            <a:endParaRPr lang="en-US" sz="1100" dirty="0"/>
          </a:p>
        </p:txBody>
      </p:sp>
      <p:sp>
        <p:nvSpPr>
          <p:cNvPr id="19" name="Arrow"/>
          <p:cNvSpPr/>
          <p:nvPr/>
        </p:nvSpPr>
        <p:spPr>
          <a:xfrm flipV="1">
            <a:off x="2679192" y="3474720"/>
            <a:ext cx="914" cy="182880"/>
          </a:xfrm>
          <a:prstGeom prst="line">
            <a:avLst/>
          </a:prstGeom>
          <a:noFill/>
          <a:ln w="19050">
            <a:solidFill>
              <a:srgbClr val="E36C0A"/>
            </a:solidFill>
            <a:prstDash val="solid"/>
            <a:tailEnd type="triangle"/>
          </a:ln>
        </p:spPr>
      </p:sp>
      <p:sp>
        <p:nvSpPr>
          <p:cNvPr id="20" name="Oligo criteria"/>
          <p:cNvSpPr txBox="1"/>
          <p:nvPr/>
        </p:nvSpPr>
        <p:spPr>
          <a:xfrm>
            <a:off x="6263640" y="14173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2B3A2B"/>
          </a:solidFill>
          <a:ln w="12700">
            <a:solidFill>
              <a:srgbClr val="2B3A2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necrosis,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and/or mitoses ≥6 / 2.4 mm²</a:t>
            </a:r>
            <a:endParaRPr lang="en-US" sz="1200" dirty="0"/>
          </a:p>
        </p:txBody>
      </p:sp>
      <p:sp>
        <p:nvSpPr>
          <p:cNvPr id="21" name="O2"/>
          <p:cNvSpPr txBox="1"/>
          <p:nvPr/>
        </p:nvSpPr>
        <p:spPr>
          <a:xfrm>
            <a:off x="6263640" y="29718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D9A0C8"/>
          </a:solidFill>
          <a:ln w="12700">
            <a:solidFill>
              <a:srgbClr val="D9A0C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2</a:t>
            </a:r>
            <a:endParaRPr lang="en-US" sz="1150" dirty="0"/>
          </a:p>
        </p:txBody>
      </p:sp>
      <p:sp>
        <p:nvSpPr>
          <p:cNvPr id="22" name="O3"/>
          <p:cNvSpPr txBox="1"/>
          <p:nvPr/>
        </p:nvSpPr>
        <p:spPr>
          <a:xfrm>
            <a:off x="7635240" y="29718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D9A0C8"/>
          </a:solidFill>
          <a:ln w="12700">
            <a:solidFill>
              <a:srgbClr val="D9A0C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</a:t>
            </a:r>
            <a:endParaRPr lang="en-US" sz="1150" dirty="0"/>
          </a:p>
        </p:txBody>
      </p:sp>
      <p:sp>
        <p:nvSpPr>
          <p:cNvPr id="23" name="Arrow"/>
          <p:cNvSpPr/>
          <p:nvPr/>
        </p:nvSpPr>
        <p:spPr>
          <a:xfrm flipH="1">
            <a:off x="6876288" y="2286000"/>
            <a:ext cx="256032" cy="6858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720840" y="2514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N</a:t>
            </a:r>
            <a:endParaRPr lang="en-US" sz="1100" dirty="0"/>
          </a:p>
        </p:txBody>
      </p:sp>
      <p:sp>
        <p:nvSpPr>
          <p:cNvPr id="25" name="Arrow"/>
          <p:cNvSpPr/>
          <p:nvPr/>
        </p:nvSpPr>
        <p:spPr>
          <a:xfrm>
            <a:off x="8001000" y="2286000"/>
            <a:ext cx="246888" cy="6858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275320" y="2514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FBFBF"/>
                </a:solidFill>
              </a:rPr>
              <a:t>Oligodendroglioma: grading 개선 근거 없음 (기존 기준 유지)</a:t>
            </a:r>
            <a:endParaRPr lang="en-US" sz="1100" dirty="0"/>
          </a:p>
        </p:txBody>
      </p:sp>
      <p:sp>
        <p:nvSpPr>
          <p:cNvPr id="28" name="Key changes"/>
          <p:cNvSpPr txBox="1"/>
          <p:nvPr/>
        </p:nvSpPr>
        <p:spPr>
          <a:xfrm>
            <a:off x="274320" y="5029200"/>
            <a:ext cx="8595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FFC000"/>
                </a:solidFill>
              </a:rPr>
              <a:t>Grade 4 criterion에 PDGFRA amplification 추가 (CDKN2A/B HD와 동급)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Grade 2/3 경계: mitosis ≥3 / 2.4 mm² 수치 기준 제안, grade 3 분자 marker 명시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Histology grade 2/3여도 NGS · methylation CNV 결과로 upgrade 가능</a:t>
            </a:r>
            <a:endParaRPr lang="en-US" sz="1400" dirty="0"/>
          </a:p>
        </p:txBody>
      </p:sp>
      <p:sp>
        <p:nvSpPr>
          <p:cNvPr id="29" name="Citation"/>
          <p:cNvSpPr txBox="1"/>
          <p:nvPr/>
        </p:nvSpPr>
        <p:spPr>
          <a:xfrm>
            <a:off x="2926080" y="6400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Park YW et al. Korean J Radiol 2026 (in press), Fig. 2 · Original criteria: Brat DJ et al. Neuro-Oncol 2026;28(9):2069-2089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PDGFRA Amplification → WHO Grade 4</a:t>
            </a:r>
            <a:endParaRPr lang="en-US" sz="2600" dirty="0"/>
          </a:p>
        </p:txBody>
      </p:sp>
      <p:sp>
        <p:nvSpPr>
          <p:cNvPr id="3" name="Stat panel"/>
          <p:cNvSpPr/>
          <p:nvPr/>
        </p:nvSpPr>
        <p:spPr>
          <a:xfrm>
            <a:off x="137160" y="960120"/>
            <a:ext cx="3200400" cy="521208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tat"/>
          <p:cNvSpPr txBox="1"/>
          <p:nvPr/>
        </p:nvSpPr>
        <p:spPr>
          <a:xfrm>
            <a:off x="274320" y="10972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000"/>
                </a:solidFill>
              </a:rPr>
              <a:t>51 vs 126 mo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6642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Median OS: PDGFRA amp으로 grade 4 재분류 vs grade 3 유지 (HR 1.9, p=0.028)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212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BFBF"/>
                </a:solidFill>
              </a:rPr>
              <a:t>Richardson TE, Acta Neuropathol 2026 (n=1,140)</a:t>
            </a:r>
            <a:endParaRPr lang="en-US" sz="900" dirty="0"/>
          </a:p>
        </p:txBody>
      </p:sp>
      <p:sp>
        <p:nvSpPr>
          <p:cNvPr id="7" name="Stat"/>
          <p:cNvSpPr txBox="1"/>
          <p:nvPr/>
        </p:nvSpPr>
        <p:spPr>
          <a:xfrm>
            <a:off x="274320" y="2788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000"/>
                </a:solidFill>
              </a:rPr>
              <a:t>18.8%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33558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Grade 2/3 IDH-mut astrocytoma의 PDGFRA amp (FISH). CDKN2A HD · CDK4 amp와 mutually exclusive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39044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BFBF"/>
                </a:solidFill>
              </a:rPr>
              <a:t>Yang RR, Brain Pathol 2019 (n=160)</a:t>
            </a:r>
            <a:endParaRPr lang="en-US" sz="900" dirty="0"/>
          </a:p>
        </p:txBody>
      </p:sp>
      <p:sp>
        <p:nvSpPr>
          <p:cNvPr id="10" name="Stat"/>
          <p:cNvSpPr txBox="1"/>
          <p:nvPr/>
        </p:nvSpPr>
        <p:spPr>
          <a:xfrm>
            <a:off x="274320" y="44805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000"/>
                </a:solidFill>
              </a:rPr>
              <a:t>24%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5047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실제 진료에서 molecular 결과로 grade 변경 (grade 3 → 4: 3례)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5596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FBFBF"/>
                </a:solidFill>
              </a:rPr>
              <a:t>Tauziède-Espariat A, Ann Pathol 2026 (12/50)</a:t>
            </a:r>
            <a:endParaRPr lang="en-US" sz="900" dirty="0"/>
          </a:p>
        </p:txBody>
      </p:sp>
      <p:sp>
        <p:nvSpPr>
          <p:cNvPr id="13" name="PDGFRA evidence"/>
          <p:cNvSpPr txBox="1"/>
          <p:nvPr/>
        </p:nvSpPr>
        <p:spPr>
          <a:xfrm>
            <a:off x="3611880" y="960120"/>
            <a:ext cx="525780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FFC000"/>
                </a:solidFill>
              </a:rPr>
              <a:t>Update 12의 결론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PDGFRA amp = highly aggressive behavior → CNS WHO grade 4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FFC000"/>
                </a:solidFill>
              </a:rPr>
              <a:t>근거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Yang 2019: PDGFRA amp → 가장 나쁜 risk group (mean OS 40.5 vs 71.5 mo)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CATNON (IDH-mut anaplastic astrocytoma 432명): 독립 예후인자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Virata 2026: 위 분자 변화가 있으면 grade 2/3의 median OS 67–82 mo vs 135–141 mo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FFC000"/>
                </a:solidFill>
              </a:rPr>
              <a:t>검출 방법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NGS CNV, methylation array CNV, FISH, SNP/CGH array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PDGFRA IHC: amplification screening 도구로 제안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FFC000"/>
                </a:solidFill>
              </a:rPr>
              <a:t>Pitfall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형태학적 grade 2/3 → CNV 검사 없으면 놓침</a:t>
            </a:r>
            <a:endParaRPr lang="en-US" sz="1350" dirty="0"/>
          </a:p>
        </p:txBody>
      </p:sp>
      <p:sp>
        <p:nvSpPr>
          <p:cNvPr id="14" name="Citation"/>
          <p:cNvSpPr txBox="1"/>
          <p:nvPr/>
        </p:nvSpPr>
        <p:spPr>
          <a:xfrm>
            <a:off x="2926080" y="6400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 DJ, Neuro-Oncol 2026 · Richardson TE, Acta Neuropathol 2026;152 · Yang RR, Brain Pathol 2019 · Tesileanu CMS, Neuro-Oncol 2021 · Virata MC, Neuro-Oncol 2026 · Tauziède-Espariat A, Brain Pathol 2026;e70142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Findings</a:t>
            </a:r>
            <a:endParaRPr lang="en-US" sz="2600" dirty="0"/>
          </a:p>
        </p:txBody>
      </p:sp>
      <p:sp>
        <p:nvSpPr>
          <p:cNvPr id="3" name="Image placeholder"/>
          <p:cNvSpPr txBox="1"/>
          <p:nvPr/>
        </p:nvSpPr>
        <p:spPr>
          <a:xfrm>
            <a:off x="274320" y="960120"/>
            <a:ext cx="196596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59595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T2 / FLAIR</a:t>
            </a:r>
            <a:endParaRPr lang="en-US" sz="1200" dirty="0"/>
          </a:p>
        </p:txBody>
      </p:sp>
      <p:sp>
        <p:nvSpPr>
          <p:cNvPr id="4" name="Image placeholder"/>
          <p:cNvSpPr txBox="1"/>
          <p:nvPr/>
        </p:nvSpPr>
        <p:spPr>
          <a:xfrm>
            <a:off x="2331720" y="960120"/>
            <a:ext cx="196596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59595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CE T1</a:t>
            </a:r>
            <a:endParaRPr lang="en-US" sz="1200" dirty="0"/>
          </a:p>
        </p:txBody>
      </p:sp>
      <p:sp>
        <p:nvSpPr>
          <p:cNvPr id="5" name="Image placeholder"/>
          <p:cNvSpPr txBox="1"/>
          <p:nvPr/>
        </p:nvSpPr>
        <p:spPr>
          <a:xfrm>
            <a:off x="274320" y="2971800"/>
            <a:ext cx="196596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59595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ADC</a:t>
            </a:r>
            <a:endParaRPr lang="en-US" sz="1200" dirty="0"/>
          </a:p>
        </p:txBody>
      </p:sp>
      <p:sp>
        <p:nvSpPr>
          <p:cNvPr id="6" name="Image placeholder"/>
          <p:cNvSpPr txBox="1"/>
          <p:nvPr/>
        </p:nvSpPr>
        <p:spPr>
          <a:xfrm>
            <a:off x="2331720" y="2971800"/>
            <a:ext cx="196596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59595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</a:rPr>
              <a:t>rCBV</a:t>
            </a:r>
            <a:endParaRPr lang="en-US" sz="1200" dirty="0"/>
          </a:p>
        </p:txBody>
      </p:sp>
      <p:sp>
        <p:nvSpPr>
          <p:cNvPr id="7" name="Case caption"/>
          <p:cNvSpPr txBox="1"/>
          <p:nvPr/>
        </p:nvSpPr>
        <p:spPr>
          <a:xfrm>
            <a:off x="274320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000"/>
                </a:solidFill>
              </a:rPr>
              <a:t>63/F, Astrocytoma, IDH-mutant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ADC · rCBV에서만 aggressive feature</a:t>
            </a:r>
            <a:endParaRPr lang="en-US" sz="1300" dirty="0"/>
          </a:p>
        </p:txBody>
      </p:sp>
      <p:sp>
        <p:nvSpPr>
          <p:cNvPr id="8" name="Imaging bullets"/>
          <p:cNvSpPr txBox="1"/>
          <p:nvPr/>
        </p:nvSpPr>
        <p:spPr>
          <a:xfrm>
            <a:off x="4526280" y="960120"/>
            <a:ext cx="43434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</a:rPr>
              <a:t>T2-FLAIR mismatch: IDH-mut astrocytoma에 특이적, 민감도 낮음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주로 non-enhancing 저등급 (≥55세 cohort: G2 25%, G3/4 0%)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</a:rPr>
              <a:t>Enhancement ≠ grade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Non-enhancing high grade 존재, grade 2도 enhancement 가능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FFC000"/>
                </a:solidFill>
              </a:rPr>
              <a:t>ADC ↓ / rCBV ↑ focus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Non-enhancing glioma에서 rCBV로 grade 4 구분 AUC 0.72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Biopsy target + 병리에 molecular work-up 요청 근거</a:t>
            </a:r>
            <a:endParaRPr lang="en-US" sz="13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</a:rPr>
              <a:t>PDGFRA amp 특이 영상 소견: 확립된 근거 없음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→ 영상-병리 불일치 시 피드백이 핵심</a:t>
            </a:r>
            <a:endParaRPr lang="en-US" sz="1350" dirty="0"/>
          </a:p>
        </p:txBody>
      </p:sp>
      <p:sp>
        <p:nvSpPr>
          <p:cNvPr id="9" name="Citation"/>
          <p:cNvSpPr txBox="1"/>
          <p:nvPr/>
        </p:nvSpPr>
        <p:spPr>
          <a:xfrm>
            <a:off x="2926080" y="6400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Alfattal, Int J Surg Pathol 2026 · Ozono, J Neurooncol 2026 · Imai, J Clin Med 2025;14:6777 · Yang, AJNR 2025 · Kurokawa, Jpn J Radiol 2026;44:1534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Grade Changes Treatment</a:t>
            </a:r>
            <a:endParaRPr lang="en-US" sz="2600" dirty="0"/>
          </a:p>
        </p:txBody>
      </p:sp>
      <p:sp>
        <p:nvSpPr>
          <p:cNvPr id="3" name="Step dot"/>
          <p:cNvSpPr txBox="1"/>
          <p:nvPr/>
        </p:nvSpPr>
        <p:spPr>
          <a:xfrm>
            <a:off x="274320" y="1005840"/>
            <a:ext cx="566928" cy="566928"/>
          </a:xfrm>
          <a:prstGeom prst="ellipse">
            <a:avLst/>
          </a:prstGeom>
          <a:solidFill>
            <a:srgbClr val="40404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Step text"/>
          <p:cNvSpPr txBox="1"/>
          <p:nvPr/>
        </p:nvSpPr>
        <p:spPr>
          <a:xfrm>
            <a:off x="960120" y="9418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Initial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Astrocytoma, IDH-mut, grade 3 (histology)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557784" y="1572768"/>
            <a:ext cx="914" cy="3474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6" name="Step dot"/>
          <p:cNvSpPr txBox="1"/>
          <p:nvPr/>
        </p:nvSpPr>
        <p:spPr>
          <a:xfrm>
            <a:off x="274320" y="1920240"/>
            <a:ext cx="566928" cy="566928"/>
          </a:xfrm>
          <a:prstGeom prst="ellipse">
            <a:avLst/>
          </a:prstGeom>
          <a:solidFill>
            <a:srgbClr val="40404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Step text"/>
          <p:cNvSpPr txBox="1"/>
          <p:nvPr/>
        </p:nvSpPr>
        <p:spPr>
          <a:xfrm>
            <a:off x="960120" y="18562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BFBF"/>
                </a:solidFill>
              </a:rPr>
              <a:t>Radiology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ADC · rCBV: aggressive → 병리에 피드백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557784" y="2487168"/>
            <a:ext cx="914" cy="3474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9" name="Step dot"/>
          <p:cNvSpPr txBox="1"/>
          <p:nvPr/>
        </p:nvSpPr>
        <p:spPr>
          <a:xfrm>
            <a:off x="274320" y="2834640"/>
            <a:ext cx="566928" cy="566928"/>
          </a:xfrm>
          <a:prstGeom prst="ellipse">
            <a:avLst/>
          </a:prstGeom>
          <a:solidFill>
            <a:srgbClr val="E36C0A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0" name="Step text"/>
          <p:cNvSpPr txBox="1"/>
          <p:nvPr/>
        </p:nvSpPr>
        <p:spPr>
          <a:xfrm>
            <a:off x="960120" y="27706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6C0A"/>
                </a:solidFill>
              </a:rPr>
              <a:t>Molecular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PDGFRA amplification 확인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557784" y="3401568"/>
            <a:ext cx="914" cy="3474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12" name="Step dot"/>
          <p:cNvSpPr txBox="1"/>
          <p:nvPr/>
        </p:nvSpPr>
        <p:spPr>
          <a:xfrm>
            <a:off x="274320" y="3749040"/>
            <a:ext cx="566928" cy="566928"/>
          </a:xfrm>
          <a:prstGeom prst="ellipse">
            <a:avLst/>
          </a:prstGeom>
          <a:solidFill>
            <a:srgbClr val="E36C0A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3" name="Step text"/>
          <p:cNvSpPr txBox="1"/>
          <p:nvPr/>
        </p:nvSpPr>
        <p:spPr>
          <a:xfrm>
            <a:off x="960120" y="36850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6C0A"/>
                </a:solidFill>
              </a:rPr>
              <a:t>Integrated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Grade 4로 재판독 (Update 12)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557784" y="4315968"/>
            <a:ext cx="914" cy="3474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15" name="Step dot"/>
          <p:cNvSpPr txBox="1"/>
          <p:nvPr/>
        </p:nvSpPr>
        <p:spPr>
          <a:xfrm>
            <a:off x="274320" y="4663440"/>
            <a:ext cx="566928" cy="566928"/>
          </a:xfrm>
          <a:prstGeom prst="ellipse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Step text"/>
          <p:cNvSpPr txBox="1"/>
          <p:nvPr/>
        </p:nvSpPr>
        <p:spPr>
          <a:xfrm>
            <a:off x="960120" y="459943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000"/>
                </a:solidFill>
              </a:rPr>
              <a:t>Treatment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C000"/>
                </a:solidFill>
              </a:rPr>
              <a:t>CCRT 시행</a:t>
            </a:r>
            <a:endParaRPr lang="en-US" sz="1300" dirty="0"/>
          </a:p>
        </p:txBody>
      </p:sp>
      <p:graphicFrame>
        <p:nvGraphicFramePr>
          <p:cNvPr id="6" name="Treat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60120"/>
          <a:ext cx="5029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97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치료 근거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(GTR) / 잔존 non-enhancing → vorasidenib (INDIGO; 식약처 2026.1 허가)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→ adjuvant TMZ 12 cycles (CATNON: concurrent TMZ 이득 없음)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 + TMZ, 고등급 치료 (EANO) — vorasidenib 대상 아님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2600"/>
                    </a:solidFill>
                  </a:tcPr>
                </a:tc>
              </a:tr>
            </a:tbl>
          </a:graphicData>
        </a:graphic>
      </p:graphicFrame>
      <p:sp>
        <p:nvSpPr>
          <p:cNvPr id="18" name="Take-home"/>
          <p:cNvSpPr txBox="1"/>
          <p:nvPr/>
        </p:nvSpPr>
        <p:spPr>
          <a:xfrm>
            <a:off x="3840480" y="33375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FFC000"/>
                </a:solidFill>
              </a:rPr>
              <a:t>Take-home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Grade = 치료 강도 · trial 적격성 · 예후 상담을 결정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ADC/rCBV가 조직 grade보다 aggressive하면 PDGFRA · CDKN2A 등 CNV 확인 요청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영상 판독이 molecular upgrade의 trigger가 될 수 있음</a:t>
            </a:r>
            <a:endParaRPr lang="en-US" sz="1350" dirty="0"/>
          </a:p>
        </p:txBody>
      </p:sp>
      <p:sp>
        <p:nvSpPr>
          <p:cNvPr id="19" name="Citation"/>
          <p:cNvSpPr txBox="1"/>
          <p:nvPr/>
        </p:nvSpPr>
        <p:spPr>
          <a:xfrm>
            <a:off x="2926080" y="6400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den Bent MJ, Lancet Oncol 2021;22:813 &amp; 2026;27:45 · Mellinghoff IK, NEJM 2023;389:589 · Weller M, Nat Rev Clin Oncol 2021;18:170 · Park YW, Korean J Radiol 2026 (in press)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 Black">
  <a:themeElements>
    <a:clrScheme name="Neuro Black">
      <a:dk1>
        <a:srgbClr val="000000"/>
      </a:dk1>
      <a:lt1>
        <a:srgbClr val="FFFFFF"/>
      </a:lt1>
      <a:dk2>
        <a:srgbClr val="1A1A1A"/>
      </a:dk2>
      <a:lt2>
        <a:srgbClr val="BFBFBF"/>
      </a:lt2>
      <a:accent1>
        <a:srgbClr val="FFC000"/>
      </a:accent1>
      <a:accent2>
        <a:srgbClr val="E36C0A"/>
      </a:accent2>
      <a:accent3>
        <a:srgbClr val="5B9BD5"/>
      </a:accent3>
      <a:accent4>
        <a:srgbClr val="C00000"/>
      </a:accent4>
      <a:accent5>
        <a:srgbClr val="A6A6A6"/>
      </a:accent5>
      <a:accent6>
        <a:srgbClr val="70AD47"/>
      </a:accent6>
      <a:hlink>
        <a:srgbClr val="FFC000"/>
      </a:hlink>
      <a:folHlink>
        <a:srgbClr val="E36C0A"/>
      </a:folHlink>
    </a:clrScheme>
    <a:fontScheme name="Neuro Bla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cIMPACT-NOW update 12 – IDH-mutant astrocytoma grading</dc:title>
  <dc:subject>PptxGenJS Presentation</dc:subject>
  <dc:creator>PptxGenJS</dc:creator>
  <cp:lastModifiedBy>PptxGenJS</cp:lastModifiedBy>
  <cp:revision>1</cp:revision>
  <dcterms:created xsi:type="dcterms:W3CDTF">2026-10-14T10:06:02Z</dcterms:created>
  <dcterms:modified xsi:type="dcterms:W3CDTF">2026-10-14T10:06:02Z</dcterms:modified>
</cp:coreProperties>
</file>