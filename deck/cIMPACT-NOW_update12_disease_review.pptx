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cIMPACT-NOW updates published after WHO CNS5.
- Update 8: meningioma grading. 1p deletion with 22q deletion and/or NF2 variant upgrades a histologic grade 1 meningioma to grade 2.
- Update 9: principles for using the DNA methylation classifier.
- Update 10: criteria for accepting a new tumor type; tumors that do not meet them are reported as NEC.
- Update 11: in patients under 40, EGFR amplification or +7/-10 alone should not establish GBM (consider pediatric-type HGG).
- Update 12, today's focus: revised grading of IDH-mutant gliomas.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12 grading algorithm (Brat et al. 2026).
1) Any of MVP, necrosis, CDKN2A/B HD or, newly, PDGFRA amplification → grade 4.
2) Otherwise, mitotic count ≥3 per 2.4 mm² → grade 3; if not, grade 2.
3) Orange box: Table 2 alterations. In Table 1 of the paper these are part of the grade 3 definition, so a histologic grade 2 tumor with, for example, CDK4 amplification becomes grade 3. G-CIMP-low / A_IDH_HG means at least grade 3 (classifier score &gt;0.90 required).
4) 2.4 mm² equals 10 high-power fields of 0.24 mm². The threshold comes from Kros 2018 (455 patients from CATNON and EORTC 22033; prognostic for PFS, not OS) and Tran 2023 (100 patients). The authors say more studies are needed before WHO adopts it.
5) Oligodendroglioma: no new grading criteria. Brisk mitoses = ≥6 per 10 HPF of 0.24 mm². Mitosis-only grade 3 tumors without MRI enhancement may do better.
Figure redrawn from Park YW et al. Imaging of IDH-Mutant Gliomas in the Era of IDH Inhibitors: What Radiologists Need to Know. Korean J Radiol 2026 (in press), Fig. 2. Criteria from Brat et al.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PDGFRA amplification became a grade 4 criterion (Update 12, p.2071 and Conclusions).
- Rule: a grading marker needs an OS association in at least 2 independent studies, ideally with rising frequency at higher grade and at progression. Grade 4 benchmark: median OS &lt;6 years (literature 4.1-5.9).
- Frequency: 4-6% of grade 2-3 and 8-15% of grade 4 IDH-mutant astrocytomas. Little overlap with other poor-risk markers.
- Key evidence: CATNON, grade 3 IDH-mutant astrocytomas including CDKN2A/B-deleted cases, n=440. PDGFRA-amplified tumors: median OS 3.1 vs 9.3 years, HR 3.51 (2.21-5.58), multivariable, independent of CDKN2A/B homozygous deletion.
- Supporting: Yang 2020 (n=155, HR 2.90), Ghosh 2025 (n=998, HR 1.9), Shirahata 2018, Richardson &amp; Walker 2020.
- Dissent acknowledged in the paper: Virata 2026, univariable HR 4.5 but not significant on multivariable analysis.
- After publication, Richardson 2026 (n=1,140): regraded grade 4 median OS 51.4 vs 126.2 months for tumors staying grade 3 (HR 1.9).
- Update 12 does not define a copy-number cut-off for amplification. PDGFRA IHC (&gt;=10% strong staining) is a screening tool; confirm with FISH or CNV.
Caveat: in the CATNON final analysis PDGFRA amp was prognostic but did not predict benefit from temozolomide.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(Insert the case images into the placeholders.)
- Update 12 itself: molecular testing should be pursued when imaging shows contrast enhancement or relatively rapid progression; a slowly growing, T2-bright, non-enhancing lesion with a low-grade biopsy can be called grade 2 with fairly high confidence without advanced testing. Pre- and post-operative tumor volume and MRI growth rate are the most consistent clinical prognostic factors; the prognostic value of enhancement is disputed.
- T2-FLAIR mismatch: high specificity, low sensitivity. In a cohort aged ≥55 it was seen in 25% of grade 2 and in no grade 3/4 tumors (Alfattal 2026). All CDKN2A HD cases were mismatch-negative (Ozono 2026).
- Enhancement alone does not determine grade (50% of grade 2 tumors enhanced in that cohort).
- In non-enhancing gliomas, rCBV discriminated grade 4 with AUC 0.718 (Imai 2025).
- CDKN2A HD was predicted by a poorly defined enhancing margin (OR 13.19, Yang AJNR 2025).
- No imaging feature specific to PDGFRA amplification has been established. When ADC/CBV look more aggressive than the histologic grade, as in this case, feed that back to pathology.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case: histologic grade 3 at first. ADC and CBV looked aggressive, so we fed this back to pathology → PDGFRA amplification found → regraded to grade 4 under cIMPACT-NOW update 12 → concurrent chemoradiotherapy.
- Grade 3 IDH-mut astrocytoma: in CATNON, adjuvant TMZ improved survival (IDH-mut median OS 12.5 vs 6.0 years, HR 0.54); concurrent TMZ did not reach significance (HR 0.81).
- Grade 2: in INDIGO, vorasidenib improved PFS (27.7 vs 11.1 months) in residual non-enhancing grade 2 tumors. FDA approval Aug 2024, Korean MFDS Jan 2026 (Park YW, KJR 2026). A grade 4 tumor is not a candidate.
- Grade 4 IDH-mut: ASCO-SNO 2022 says these patients may follow either the grade 3 astrocytoma or the IDH-wildtype GBM recommendations.
- Message: radiology feedback led to a molecular upgrade and a change in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_TITLE_ONLY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cIMPACT-NOW after WHO CNS5 (2021)</a:t>
            </a:r>
            <a:endParaRPr lang="en-US" sz="2600" dirty="0"/>
          </a:p>
        </p:txBody>
      </p:sp>
      <p:sp>
        <p:nvSpPr>
          <p:cNvPr id="3" name="CNS5 baseline"/>
          <p:cNvSpPr txBox="1"/>
          <p:nvPr/>
        </p:nvSpPr>
        <p:spPr>
          <a:xfrm>
            <a:off x="365760" y="914400"/>
            <a:ext cx="8412480" cy="566928"/>
          </a:xfrm>
          <a:prstGeom prst="rect">
            <a:avLst/>
          </a:prstGeom>
          <a:solidFill>
            <a:srgbClr val="262626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000"/>
                </a:solidFill>
              </a:rPr>
              <a:t>WHO CNS5 baseline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Astrocytoma, IDH-mutant = single tumor type, CNS WHO grade 2–4 / CDKN2A/B homozygous deletion → grade 4 regardless of histology</a:t>
            </a:r>
            <a:endParaRPr lang="en-US" sz="1300" dirty="0"/>
          </a:p>
        </p:txBody>
      </p:sp>
      <p:graphicFrame>
        <p:nvGraphicFramePr>
          <p:cNvPr id="2" name="Updat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64208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417320"/>
                <a:gridCol w="1783080"/>
                <a:gridCol w="44805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recommendation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Neuro-Oncol 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Meningioma grading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1 histology + 1p deletion with 22q del and/or NF2 variant → grade 2; standardized brain invasion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Neuro-Oncol Adv 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DNA methylation profiling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Classifier = one tool within integrated diagnosis (not stand-alone); layered report examples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 Pathol 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Defining new tumor types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phenotype + methylation cluster + driver + histology, ≥2 independent reports; otherwise NEC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 Pathol 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IDH/H3-wt HGG, PF EPN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&lt;40: EGFR amp or +7/−10 alone insufficient for GBM; caution with TERTp-only low-grade tumors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Neuro-Oncol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IDH-mutant glioma grading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PDGFRA amp → grade 4; ≥3 mitoses/2.4 mm² or Table 2 alterations → grade 3; new subgroups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</a:tr>
            </a:tbl>
          </a:graphicData>
        </a:graphic>
      </p:graphicFrame>
      <p:sp>
        <p:nvSpPr>
          <p:cNvPr id="5" name="Prior updates note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000"/>
                </a:solidFill>
              </a:rPr>
              <a:t>Update 1–7 (2018–2020)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 were incorporated into WHO CNS5 (e.g., update 3: molecular GBM; update 5: CDKN2A/B HD grading)</a:t>
            </a:r>
            <a:endParaRPr lang="en-US" sz="1200" dirty="0"/>
          </a:p>
        </p:txBody>
      </p:sp>
      <p:sp>
        <p:nvSpPr>
          <p:cNvPr id="6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DN, Neuro-Oncol 2021;23:1231 · Sahm F, Neuro-Oncol 2025;27:319 · Aldape K, Neuro-Oncol Adv 2025;7:vdae228 · Hawkins C, Brain Pathol 2025;35:e70018 · Wesseling P, Brain Pathol 2026;36:e70035 · Brat DJ, Neuro-Oncol 2026;28:2069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cIMPACT-NOW Update 12: Grading of IDH-mutant Gliomas</a:t>
            </a:r>
            <a:endParaRPr lang="en-US" sz="2600" dirty="0"/>
          </a:p>
        </p:txBody>
      </p:sp>
      <p:sp>
        <p:nvSpPr>
          <p:cNvPr id="3" name="Astro header"/>
          <p:cNvSpPr txBox="1"/>
          <p:nvPr/>
        </p:nvSpPr>
        <p:spPr>
          <a:xfrm>
            <a:off x="274320" y="914400"/>
            <a:ext cx="5760720" cy="329184"/>
          </a:xfrm>
          <a:prstGeom prst="roundRect">
            <a:avLst>
              <a:gd name="adj" fmla="val 22222"/>
            </a:avLst>
          </a:prstGeom>
          <a:solidFill>
            <a:srgbClr val="1F3A4D"/>
          </a:solidFill>
          <a:ln w="12700">
            <a:solidFill>
              <a:srgbClr val="1F3A4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IDH-mutant astrocytoma</a:t>
            </a:r>
            <a:endParaRPr lang="en-US" sz="1300" dirty="0"/>
          </a:p>
        </p:txBody>
      </p:sp>
      <p:sp>
        <p:nvSpPr>
          <p:cNvPr id="4" name="Oligo header"/>
          <p:cNvSpPr txBox="1"/>
          <p:nvPr/>
        </p:nvSpPr>
        <p:spPr>
          <a:xfrm>
            <a:off x="6263640" y="91440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3A2A4D"/>
          </a:solidFill>
          <a:ln w="12700">
            <a:solidFill>
              <a:srgbClr val="3A2A4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Oligodendroglioma</a:t>
            </a:r>
            <a:endParaRPr lang="en-US" sz="1300" dirty="0"/>
          </a:p>
        </p:txBody>
      </p:sp>
      <p:sp>
        <p:nvSpPr>
          <p:cNvPr id="5" name="Grade 4 criteria"/>
          <p:cNvSpPr txBox="1"/>
          <p:nvPr/>
        </p:nvSpPr>
        <p:spPr>
          <a:xfrm>
            <a:off x="3429000" y="141732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2B3A2B"/>
          </a:solidFill>
          <a:ln w="19050">
            <a:solidFill>
              <a:srgbClr val="FFC00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MVP, necrosis,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CDKN2A/B HD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and/or </a:t>
            </a:r>
            <a:pPr algn="ctr" indent="0" marL="0">
              <a:buNone/>
            </a:pPr>
            <a:r>
              <a:rPr lang="en-US" sz="12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PDGFRA amp</a:t>
            </a:r>
            <a:endParaRPr lang="en-US" sz="1200" dirty="0"/>
          </a:p>
        </p:txBody>
      </p:sp>
      <p:sp>
        <p:nvSpPr>
          <p:cNvPr id="6" name="Mitosis criterion"/>
          <p:cNvSpPr txBox="1"/>
          <p:nvPr/>
        </p:nvSpPr>
        <p:spPr>
          <a:xfrm>
            <a:off x="274320" y="1572768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2B3A2B"/>
          </a:solidFill>
          <a:ln w="12700">
            <a:solidFill>
              <a:srgbClr val="2B3A2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Mitotic activity ≥3 / 2.4 mm²</a:t>
            </a:r>
            <a:endParaRPr lang="en-US" sz="1200" dirty="0"/>
          </a:p>
        </p:txBody>
      </p:sp>
      <p:sp>
        <p:nvSpPr>
          <p:cNvPr id="7" name="Arrow"/>
          <p:cNvSpPr/>
          <p:nvPr/>
        </p:nvSpPr>
        <p:spPr>
          <a:xfrm flipH="1">
            <a:off x="2651760" y="1847088"/>
            <a:ext cx="777240" cy="914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907792" y="16002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N</a:t>
            </a:r>
            <a:endParaRPr lang="en-US" sz="1100" dirty="0"/>
          </a:p>
        </p:txBody>
      </p:sp>
      <p:sp>
        <p:nvSpPr>
          <p:cNvPr id="9" name="G2"/>
          <p:cNvSpPr txBox="1"/>
          <p:nvPr/>
        </p:nvSpPr>
        <p:spPr>
          <a:xfrm>
            <a:off x="137160" y="297180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2C14E"/>
          </a:solidFill>
          <a:ln w="12700">
            <a:solidFill>
              <a:srgbClr val="F2C14E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Astrocytoma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grade 2</a:t>
            </a:r>
            <a:endParaRPr lang="en-US" sz="1150" dirty="0"/>
          </a:p>
        </p:txBody>
      </p:sp>
      <p:sp>
        <p:nvSpPr>
          <p:cNvPr id="10" name="G3"/>
          <p:cNvSpPr txBox="1"/>
          <p:nvPr/>
        </p:nvSpPr>
        <p:spPr>
          <a:xfrm>
            <a:off x="1874520" y="297180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2C14E"/>
          </a:solidFill>
          <a:ln w="12700">
            <a:solidFill>
              <a:srgbClr val="F2C14E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Astrocytoma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grade 3</a:t>
            </a:r>
            <a:endParaRPr lang="en-US" sz="1150" dirty="0"/>
          </a:p>
        </p:txBody>
      </p:sp>
      <p:sp>
        <p:nvSpPr>
          <p:cNvPr id="11" name="G4"/>
          <p:cNvSpPr txBox="1"/>
          <p:nvPr/>
        </p:nvSpPr>
        <p:spPr>
          <a:xfrm>
            <a:off x="3931920" y="297180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FC000"/>
          </a:solidFill>
          <a:ln w="31750">
            <a:solidFill>
              <a:srgbClr val="E36C0A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Astrocytoma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grade 4</a:t>
            </a:r>
            <a:endParaRPr lang="en-US" sz="1150" dirty="0"/>
          </a:p>
        </p:txBody>
      </p:sp>
      <p:sp>
        <p:nvSpPr>
          <p:cNvPr id="12" name="Arrow"/>
          <p:cNvSpPr/>
          <p:nvPr/>
        </p:nvSpPr>
        <p:spPr>
          <a:xfrm flipH="1">
            <a:off x="941832" y="2121408"/>
            <a:ext cx="201168" cy="85039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13232" y="237744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N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1783080" y="2121408"/>
            <a:ext cx="896112" cy="85039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331720" y="237744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Y</a:t>
            </a:r>
            <a:endParaRPr lang="en-US" sz="1100" dirty="0"/>
          </a:p>
        </p:txBody>
      </p:sp>
      <p:sp>
        <p:nvSpPr>
          <p:cNvPr id="16" name="Arrow"/>
          <p:cNvSpPr/>
          <p:nvPr/>
        </p:nvSpPr>
        <p:spPr>
          <a:xfrm>
            <a:off x="4727448" y="2286000"/>
            <a:ext cx="914" cy="68580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773168" y="25146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Y</a:t>
            </a:r>
            <a:endParaRPr lang="en-US" sz="1100" dirty="0"/>
          </a:p>
        </p:txBody>
      </p:sp>
      <p:sp>
        <p:nvSpPr>
          <p:cNvPr id="18" name="Grade 3 molecular"/>
          <p:cNvSpPr txBox="1"/>
          <p:nvPr/>
        </p:nvSpPr>
        <p:spPr>
          <a:xfrm>
            <a:off x="274320" y="365760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3D2614"/>
          </a:solidFill>
          <a:ln w="12700">
            <a:solidFill>
              <a:srgbClr val="E36C0A"/>
            </a:solidFill>
          </a:ln>
        </p:spPr>
        <p:txBody>
          <a:bodyPr wrap="square" lIns="76200" tIns="76200" rIns="76200" bIns="7620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</a:rPr>
              <a:t>Molecular alterations suggesting WHO grade 3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CDK4 / CDK6 / CCND2 amp, CDKN2A mutation, RB1 HD or mutation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PIK3CA / PIK3R1 mutation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EGFR alteration, MYCN amp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DNA methylation: A_IDH_HG or G-CIMP-low</a:t>
            </a:r>
            <a:endParaRPr lang="en-US" sz="1100" dirty="0"/>
          </a:p>
        </p:txBody>
      </p:sp>
      <p:sp>
        <p:nvSpPr>
          <p:cNvPr id="19" name="Arrow"/>
          <p:cNvSpPr/>
          <p:nvPr/>
        </p:nvSpPr>
        <p:spPr>
          <a:xfrm flipV="1">
            <a:off x="2679192" y="3474720"/>
            <a:ext cx="914" cy="182880"/>
          </a:xfrm>
          <a:prstGeom prst="line">
            <a:avLst/>
          </a:prstGeom>
          <a:noFill/>
          <a:ln w="19050">
            <a:solidFill>
              <a:srgbClr val="E36C0A"/>
            </a:solidFill>
            <a:prstDash val="solid"/>
            <a:tailEnd type="triangle"/>
          </a:ln>
        </p:spPr>
      </p:sp>
      <p:sp>
        <p:nvSpPr>
          <p:cNvPr id="20" name="Oligo criteria"/>
          <p:cNvSpPr txBox="1"/>
          <p:nvPr/>
        </p:nvSpPr>
        <p:spPr>
          <a:xfrm>
            <a:off x="6263640" y="141732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2B3A2B"/>
          </a:solidFill>
          <a:ln w="12700">
            <a:solidFill>
              <a:srgbClr val="2B3A2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MVP, necrosis,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and/or mitoses ≥6 / 2.4 mm²</a:t>
            </a:r>
            <a:endParaRPr lang="en-US" sz="1200" dirty="0"/>
          </a:p>
        </p:txBody>
      </p:sp>
      <p:sp>
        <p:nvSpPr>
          <p:cNvPr id="21" name="O2"/>
          <p:cNvSpPr txBox="1"/>
          <p:nvPr/>
        </p:nvSpPr>
        <p:spPr>
          <a:xfrm>
            <a:off x="6263640" y="297180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D9A0C8"/>
          </a:solidFill>
          <a:ln w="12700">
            <a:solidFill>
              <a:srgbClr val="D9A0C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2</a:t>
            </a:r>
            <a:endParaRPr lang="en-US" sz="1150" dirty="0"/>
          </a:p>
        </p:txBody>
      </p:sp>
      <p:sp>
        <p:nvSpPr>
          <p:cNvPr id="22" name="O3"/>
          <p:cNvSpPr txBox="1"/>
          <p:nvPr/>
        </p:nvSpPr>
        <p:spPr>
          <a:xfrm>
            <a:off x="7635240" y="297180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D9A0C8"/>
          </a:solidFill>
          <a:ln w="12700">
            <a:solidFill>
              <a:srgbClr val="D9A0C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</a:t>
            </a:r>
            <a:endParaRPr lang="en-US" sz="1150" dirty="0"/>
          </a:p>
        </p:txBody>
      </p:sp>
      <p:sp>
        <p:nvSpPr>
          <p:cNvPr id="23" name="Arrow"/>
          <p:cNvSpPr/>
          <p:nvPr/>
        </p:nvSpPr>
        <p:spPr>
          <a:xfrm flipH="1">
            <a:off x="6876288" y="2286000"/>
            <a:ext cx="256032" cy="68580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720840" y="25146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N</a:t>
            </a:r>
            <a:endParaRPr lang="en-US" sz="1100" dirty="0"/>
          </a:p>
        </p:txBody>
      </p:sp>
      <p:sp>
        <p:nvSpPr>
          <p:cNvPr id="25" name="Arrow"/>
          <p:cNvSpPr/>
          <p:nvPr/>
        </p:nvSpPr>
        <p:spPr>
          <a:xfrm>
            <a:off x="8001000" y="2286000"/>
            <a:ext cx="246888" cy="68580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8275320" y="25146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Y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657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BFBFBF"/>
                </a:solidFill>
              </a:rPr>
              <a:t>Oligodendroglioma: no new grading criteria</a:t>
            </a:r>
            <a:endParaRPr lang="en-US" sz="1100" dirty="0"/>
          </a:p>
        </p:txBody>
      </p:sp>
      <p:sp>
        <p:nvSpPr>
          <p:cNvPr id="28" name="Key changes"/>
          <p:cNvSpPr txBox="1"/>
          <p:nvPr/>
        </p:nvSpPr>
        <p:spPr>
          <a:xfrm>
            <a:off x="274320" y="5029200"/>
            <a:ext cx="8595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C000"/>
                </a:solidFill>
              </a:rPr>
              <a:t>PDGFRA amplification added as a grade 4 criterion (same weight as CDKN2A/B HD)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Grade 3 = ≥3 mitoses / 2.4 mm² (10 HPF of 0.24 mm²) or any Table 2 molecular alteration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Mitotic cut-off rests on 2 studies; authors call for validation before WHO adoption</a:t>
            </a:r>
            <a:endParaRPr lang="en-US" sz="1400" dirty="0"/>
          </a:p>
        </p:txBody>
      </p:sp>
      <p:sp>
        <p:nvSpPr>
          <p:cNvPr id="29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Figure: Park YW et al. Korean J Radiol 2026 (in press), Fig. 2 · Original criteria: Brat DJ et al. Neuro-Oncol 2026;28(9):2069-2089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PDGFRA Amplification → WHO Grade 4</a:t>
            </a:r>
            <a:endParaRPr lang="en-US" sz="2600" dirty="0"/>
          </a:p>
        </p:txBody>
      </p:sp>
      <p:sp>
        <p:nvSpPr>
          <p:cNvPr id="3" name="Stat panel"/>
          <p:cNvSpPr/>
          <p:nvPr/>
        </p:nvSpPr>
        <p:spPr>
          <a:xfrm>
            <a:off x="137160" y="960120"/>
            <a:ext cx="3200400" cy="5212080"/>
          </a:xfrm>
          <a:prstGeom prst="roundRect">
            <a:avLst>
              <a:gd name="adj" fmla="val 2857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Stat"/>
          <p:cNvSpPr txBox="1"/>
          <p:nvPr/>
        </p:nvSpPr>
        <p:spPr>
          <a:xfrm>
            <a:off x="274320" y="109728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000"/>
                </a:solidFill>
              </a:rPr>
              <a:t>3.1 vs 9.3 yr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166420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CATNON grade 3: median OS with vs without PDGFRA amp (HR 3.51, independent of CDKN2A/B HD)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2128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FBFBF"/>
                </a:solidFill>
              </a:rPr>
              <a:t>van den Bent, Lancet Oncol 2026 (n=440)</a:t>
            </a:r>
            <a:endParaRPr lang="en-US" sz="900" dirty="0"/>
          </a:p>
        </p:txBody>
      </p:sp>
      <p:sp>
        <p:nvSpPr>
          <p:cNvPr id="7" name="Stat"/>
          <p:cNvSpPr txBox="1"/>
          <p:nvPr/>
        </p:nvSpPr>
        <p:spPr>
          <a:xfrm>
            <a:off x="274320" y="27889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C000"/>
                </a:solidFill>
              </a:rPr>
              <a:t>4–6% → 8–15%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274320" y="33558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Frequency of PDGFRA amp: grade 2–3 vs grade 4 IDH-mut astrocytoma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390448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FBFBF"/>
                </a:solidFill>
              </a:rPr>
              <a:t>Brat DJ, Neuro-Oncol 2026 (Update 12)</a:t>
            </a:r>
            <a:endParaRPr lang="en-US" sz="900" dirty="0"/>
          </a:p>
        </p:txBody>
      </p:sp>
      <p:sp>
        <p:nvSpPr>
          <p:cNvPr id="10" name="Stat"/>
          <p:cNvSpPr txBox="1"/>
          <p:nvPr/>
        </p:nvSpPr>
        <p:spPr>
          <a:xfrm>
            <a:off x="274320" y="44805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000"/>
                </a:solidFill>
              </a:rPr>
              <a:t>51 vs 126 mo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" y="50474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Post-publication validation: regraded to grade 4 by PDGFRA amp vs remaining grade 3 (HR 1.9)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" y="559612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FBFBF"/>
                </a:solidFill>
              </a:rPr>
              <a:t>Richardson TE, Acta Neuropathol 2026 (n=1,140)</a:t>
            </a:r>
            <a:endParaRPr lang="en-US" sz="900" dirty="0"/>
          </a:p>
        </p:txBody>
      </p:sp>
      <p:sp>
        <p:nvSpPr>
          <p:cNvPr id="13" name="PDGFRA evidence"/>
          <p:cNvSpPr txBox="1"/>
          <p:nvPr/>
        </p:nvSpPr>
        <p:spPr>
          <a:xfrm>
            <a:off x="3611880" y="960120"/>
            <a:ext cx="525780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Update 12 rule for a grading marker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OS association in ≥2 independent studies; grade 4 = median OS &lt;6 yr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Multivariable evidence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CATNON HR 3.51 · Yang 2020 HR 2.90 (n=155) · Ghosh 2025 HR 1.9 (n=998)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Dissent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Virata 2026: univariable HR 4.5, not significant on multivariable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Detection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NGS, methylation-array CNV, FISH, SNP/CGH array; IHC for screening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No copy-number cut-off defined in Update 12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Pitfall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Missed in histologic grade 2/3 tumors without CNV testing</a:t>
            </a:r>
            <a:endParaRPr lang="en-US" sz="1350" dirty="0"/>
          </a:p>
        </p:txBody>
      </p:sp>
      <p:sp>
        <p:nvSpPr>
          <p:cNvPr id="14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Brat DJ, Neuro-Oncol 2026;28:2069 · van den Bent MJ, Lancet Oncol 2026;27:45 · Yang RR, Brain Pathol 2020;30:541 · Ghosh HS, Neuro-Oncol 2025;27:993 · Virata MC, Neuro-Oncol 2026 · Richardson TE, Acta Neuropathol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Findings</a:t>
            </a:r>
            <a:endParaRPr lang="en-US" sz="2600" dirty="0"/>
          </a:p>
        </p:txBody>
      </p:sp>
      <p:sp>
        <p:nvSpPr>
          <p:cNvPr id="3" name="Image placeholder"/>
          <p:cNvSpPr txBox="1"/>
          <p:nvPr/>
        </p:nvSpPr>
        <p:spPr>
          <a:xfrm>
            <a:off x="274320" y="960120"/>
            <a:ext cx="1965960" cy="1920240"/>
          </a:xfrm>
          <a:prstGeom prst="rect">
            <a:avLst/>
          </a:prstGeom>
          <a:solidFill>
            <a:srgbClr val="1A1A1A"/>
          </a:solidFill>
          <a:ln w="12700">
            <a:solidFill>
              <a:srgbClr val="59595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BFBF"/>
                </a:solidFill>
              </a:rPr>
              <a:t>T2 / FLAIR</a:t>
            </a:r>
            <a:endParaRPr lang="en-US" sz="1200" dirty="0"/>
          </a:p>
        </p:txBody>
      </p:sp>
      <p:sp>
        <p:nvSpPr>
          <p:cNvPr id="4" name="Image placeholder"/>
          <p:cNvSpPr txBox="1"/>
          <p:nvPr/>
        </p:nvSpPr>
        <p:spPr>
          <a:xfrm>
            <a:off x="2331720" y="960120"/>
            <a:ext cx="1965960" cy="1920240"/>
          </a:xfrm>
          <a:prstGeom prst="rect">
            <a:avLst/>
          </a:prstGeom>
          <a:solidFill>
            <a:srgbClr val="1A1A1A"/>
          </a:solidFill>
          <a:ln w="12700">
            <a:solidFill>
              <a:srgbClr val="59595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BFBF"/>
                </a:solidFill>
              </a:rPr>
              <a:t>CE T1</a:t>
            </a:r>
            <a:endParaRPr lang="en-US" sz="1200" dirty="0"/>
          </a:p>
        </p:txBody>
      </p:sp>
      <p:sp>
        <p:nvSpPr>
          <p:cNvPr id="5" name="Image placeholder"/>
          <p:cNvSpPr txBox="1"/>
          <p:nvPr/>
        </p:nvSpPr>
        <p:spPr>
          <a:xfrm>
            <a:off x="274320" y="2971800"/>
            <a:ext cx="1965960" cy="1920240"/>
          </a:xfrm>
          <a:prstGeom prst="rect">
            <a:avLst/>
          </a:prstGeom>
          <a:solidFill>
            <a:srgbClr val="1A1A1A"/>
          </a:solidFill>
          <a:ln w="12700">
            <a:solidFill>
              <a:srgbClr val="59595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BFBF"/>
                </a:solidFill>
              </a:rPr>
              <a:t>ADC</a:t>
            </a:r>
            <a:endParaRPr lang="en-US" sz="1200" dirty="0"/>
          </a:p>
        </p:txBody>
      </p:sp>
      <p:sp>
        <p:nvSpPr>
          <p:cNvPr id="6" name="Image placeholder"/>
          <p:cNvSpPr txBox="1"/>
          <p:nvPr/>
        </p:nvSpPr>
        <p:spPr>
          <a:xfrm>
            <a:off x="2331720" y="2971800"/>
            <a:ext cx="1965960" cy="1920240"/>
          </a:xfrm>
          <a:prstGeom prst="rect">
            <a:avLst/>
          </a:prstGeom>
          <a:solidFill>
            <a:srgbClr val="1A1A1A"/>
          </a:solidFill>
          <a:ln w="12700">
            <a:solidFill>
              <a:srgbClr val="59595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BFBF"/>
                </a:solidFill>
              </a:rPr>
              <a:t>rCBV</a:t>
            </a:r>
            <a:endParaRPr lang="en-US" sz="1200" dirty="0"/>
          </a:p>
        </p:txBody>
      </p:sp>
      <p:sp>
        <p:nvSpPr>
          <p:cNvPr id="7" name="Case caption"/>
          <p:cNvSpPr txBox="1"/>
          <p:nvPr/>
        </p:nvSpPr>
        <p:spPr>
          <a:xfrm>
            <a:off x="274320" y="49834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000"/>
                </a:solidFill>
              </a:rPr>
              <a:t>63/F, Astrocytoma, IDH-mutant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Aggressive features on ADC and rCBV only</a:t>
            </a:r>
            <a:endParaRPr lang="en-US" sz="1300" dirty="0"/>
          </a:p>
        </p:txBody>
      </p:sp>
      <p:sp>
        <p:nvSpPr>
          <p:cNvPr id="8" name="Imaging bullets"/>
          <p:cNvSpPr txBox="1"/>
          <p:nvPr/>
        </p:nvSpPr>
        <p:spPr>
          <a:xfrm>
            <a:off x="4526280" y="960120"/>
            <a:ext cx="43434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FC000"/>
                </a:solidFill>
              </a:rPr>
              <a:t>Update 12 on imaging</a:t>
            </a:r>
            <a:endParaRPr lang="en-US" sz="130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Enhancement or rapid growth → molecular testing</a:t>
            </a:r>
            <a:endParaRPr lang="en-US" sz="130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Slow-growing, T2-bright, non-enhancing + low-grade biopsy → grade 2 with fair confidence</a:t>
            </a:r>
            <a:endParaRPr lang="en-US" sz="130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Pre-/post-op tumor size: most consistent prognostic factor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</a:rPr>
              <a:t>T2-FLAIR mismatch: specific, low sensitivity</a:t>
            </a:r>
            <a:endParaRPr lang="en-US" sz="130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Absent in all CDKN2A/B-deleted tumors (n=5)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FC000"/>
                </a:solidFill>
              </a:rPr>
              <a:t>ADC ↓ / rCBV ↑ focus</a:t>
            </a:r>
            <a:endParaRPr lang="en-US" sz="130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rCBV separates grade 4 in non-enhancing gliomas (AUC 0.72); biopsy target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</a:rPr>
              <a:t>No imaging signature of PDGFRA amp</a:t>
            </a:r>
            <a:endParaRPr lang="en-US" sz="130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→ Feedback to pathology when imaging and histology disagree</a:t>
            </a:r>
            <a:endParaRPr lang="en-US" sz="1300" dirty="0"/>
          </a:p>
        </p:txBody>
      </p:sp>
      <p:sp>
        <p:nvSpPr>
          <p:cNvPr id="9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Brat DJ, Neuro-Oncol 2026 (Fig. 1, Conclusions) · Ozono, J Neurooncol 2026 · Imai, J Clin Med 2025;14:6777 · Kurokawa, Jpn J Radiol 2026;44:1534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Grade Changes Treatment</a:t>
            </a:r>
            <a:endParaRPr lang="en-US" sz="2600" dirty="0"/>
          </a:p>
        </p:txBody>
      </p:sp>
      <p:sp>
        <p:nvSpPr>
          <p:cNvPr id="3" name="Step dot"/>
          <p:cNvSpPr txBox="1"/>
          <p:nvPr/>
        </p:nvSpPr>
        <p:spPr>
          <a:xfrm>
            <a:off x="274320" y="1005840"/>
            <a:ext cx="566928" cy="566928"/>
          </a:xfrm>
          <a:prstGeom prst="ellipse">
            <a:avLst/>
          </a:prstGeom>
          <a:solidFill>
            <a:srgbClr val="40404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Step text"/>
          <p:cNvSpPr txBox="1"/>
          <p:nvPr/>
        </p:nvSpPr>
        <p:spPr>
          <a:xfrm>
            <a:off x="960120" y="9418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Initial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Astrocytoma, IDH-mut, grade 3 (histology)</a:t>
            </a:r>
            <a:endParaRPr lang="en-US" sz="1300" dirty="0"/>
          </a:p>
        </p:txBody>
      </p:sp>
      <p:sp>
        <p:nvSpPr>
          <p:cNvPr id="5" name="Arrow"/>
          <p:cNvSpPr/>
          <p:nvPr/>
        </p:nvSpPr>
        <p:spPr>
          <a:xfrm>
            <a:off x="557784" y="1572768"/>
            <a:ext cx="914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  <a:tailEnd type="triangle"/>
          </a:ln>
        </p:spPr>
      </p:sp>
      <p:sp>
        <p:nvSpPr>
          <p:cNvPr id="6" name="Step dot"/>
          <p:cNvSpPr txBox="1"/>
          <p:nvPr/>
        </p:nvSpPr>
        <p:spPr>
          <a:xfrm>
            <a:off x="274320" y="1920240"/>
            <a:ext cx="566928" cy="566928"/>
          </a:xfrm>
          <a:prstGeom prst="ellipse">
            <a:avLst/>
          </a:prstGeom>
          <a:solidFill>
            <a:srgbClr val="40404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7" name="Step text"/>
          <p:cNvSpPr txBox="1"/>
          <p:nvPr/>
        </p:nvSpPr>
        <p:spPr>
          <a:xfrm>
            <a:off x="960120" y="18562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Radiology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Aggressive on ADC · rCBV → feedback to pathology</a:t>
            </a:r>
            <a:endParaRPr lang="en-US" sz="1300" dirty="0"/>
          </a:p>
        </p:txBody>
      </p:sp>
      <p:sp>
        <p:nvSpPr>
          <p:cNvPr id="8" name="Arrow"/>
          <p:cNvSpPr/>
          <p:nvPr/>
        </p:nvSpPr>
        <p:spPr>
          <a:xfrm>
            <a:off x="557784" y="2487168"/>
            <a:ext cx="914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  <a:tailEnd type="triangle"/>
          </a:ln>
        </p:spPr>
      </p:sp>
      <p:sp>
        <p:nvSpPr>
          <p:cNvPr id="9" name="Step dot"/>
          <p:cNvSpPr txBox="1"/>
          <p:nvPr/>
        </p:nvSpPr>
        <p:spPr>
          <a:xfrm>
            <a:off x="274320" y="2834640"/>
            <a:ext cx="566928" cy="566928"/>
          </a:xfrm>
          <a:prstGeom prst="ellipse">
            <a:avLst/>
          </a:prstGeom>
          <a:solidFill>
            <a:srgbClr val="E36C0A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0" name="Step text"/>
          <p:cNvSpPr txBox="1"/>
          <p:nvPr/>
        </p:nvSpPr>
        <p:spPr>
          <a:xfrm>
            <a:off x="960120" y="27706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6C0A"/>
                </a:solidFill>
              </a:rPr>
              <a:t>Molecular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PDGFRA amplification detected</a:t>
            </a:r>
            <a:endParaRPr lang="en-US" sz="1300" dirty="0"/>
          </a:p>
        </p:txBody>
      </p:sp>
      <p:sp>
        <p:nvSpPr>
          <p:cNvPr id="11" name="Arrow"/>
          <p:cNvSpPr/>
          <p:nvPr/>
        </p:nvSpPr>
        <p:spPr>
          <a:xfrm>
            <a:off x="557784" y="3401568"/>
            <a:ext cx="914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  <a:tailEnd type="triangle"/>
          </a:ln>
        </p:spPr>
      </p:sp>
      <p:sp>
        <p:nvSpPr>
          <p:cNvPr id="12" name="Step dot"/>
          <p:cNvSpPr txBox="1"/>
          <p:nvPr/>
        </p:nvSpPr>
        <p:spPr>
          <a:xfrm>
            <a:off x="274320" y="3749040"/>
            <a:ext cx="566928" cy="566928"/>
          </a:xfrm>
          <a:prstGeom prst="ellipse">
            <a:avLst/>
          </a:prstGeom>
          <a:solidFill>
            <a:srgbClr val="E36C0A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3" name="Step text"/>
          <p:cNvSpPr txBox="1"/>
          <p:nvPr/>
        </p:nvSpPr>
        <p:spPr>
          <a:xfrm>
            <a:off x="960120" y="3685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6C0A"/>
                </a:solidFill>
              </a:rPr>
              <a:t>Integrated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Regraded to grade 4 (Update 12)</a:t>
            </a:r>
            <a:endParaRPr lang="en-US" sz="1300" dirty="0"/>
          </a:p>
        </p:txBody>
      </p:sp>
      <p:sp>
        <p:nvSpPr>
          <p:cNvPr id="14" name="Arrow"/>
          <p:cNvSpPr/>
          <p:nvPr/>
        </p:nvSpPr>
        <p:spPr>
          <a:xfrm>
            <a:off x="557784" y="4315968"/>
            <a:ext cx="914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  <a:tailEnd type="triangle"/>
          </a:ln>
        </p:spPr>
      </p:sp>
      <p:sp>
        <p:nvSpPr>
          <p:cNvPr id="15" name="Step dot"/>
          <p:cNvSpPr txBox="1"/>
          <p:nvPr/>
        </p:nvSpPr>
        <p:spPr>
          <a:xfrm>
            <a:off x="274320" y="4663440"/>
            <a:ext cx="566928" cy="566928"/>
          </a:xfrm>
          <a:prstGeom prst="ellipse">
            <a:avLst/>
          </a:prstGeom>
          <a:solidFill>
            <a:srgbClr val="FFC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5</a:t>
            </a:r>
            <a:endParaRPr lang="en-US" sz="1800" dirty="0"/>
          </a:p>
        </p:txBody>
      </p:sp>
      <p:sp>
        <p:nvSpPr>
          <p:cNvPr id="16" name="Step text"/>
          <p:cNvSpPr txBox="1"/>
          <p:nvPr/>
        </p:nvSpPr>
        <p:spPr>
          <a:xfrm>
            <a:off x="960120" y="45994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</a:rPr>
              <a:t>Treatment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C000"/>
                </a:solidFill>
              </a:rPr>
              <a:t>Concurrent chemoradiotherapy</a:t>
            </a:r>
            <a:endParaRPr lang="en-US" sz="1300" dirty="0"/>
          </a:p>
        </p:txBody>
      </p:sp>
      <p:graphicFrame>
        <p:nvGraphicFramePr>
          <p:cNvPr id="6" name="Treatmen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960120"/>
          <a:ext cx="50292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2976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 evidence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Observation after GTR / residual non-enhancing → vorasidenib (INDIGO; MFDS approval Jan 2026)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 → adjuvant TMZ × 12 cycles (CATNON; no significant benefit of concurrent TMZ)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3 or GBM-type regimen (ASCO-SNO); not a vorasidenib candidate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</a:tr>
            </a:tbl>
          </a:graphicData>
        </a:graphic>
      </p:graphicFrame>
      <p:sp>
        <p:nvSpPr>
          <p:cNvPr id="18" name="Take-home"/>
          <p:cNvSpPr txBox="1"/>
          <p:nvPr/>
        </p:nvSpPr>
        <p:spPr>
          <a:xfrm>
            <a:off x="3840480" y="3337560"/>
            <a:ext cx="5029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Take-home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Grade drives treatment intensity, trial eligibility and counseling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If ADC/rCBV look worse than the histologic grade, ask for CNV (PDGFRA, CDKN2A/B)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The radiology report can trigger a molecular upgrade</a:t>
            </a:r>
            <a:endParaRPr lang="en-US" sz="1350" dirty="0"/>
          </a:p>
        </p:txBody>
      </p:sp>
      <p:sp>
        <p:nvSpPr>
          <p:cNvPr id="19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den Bent MJ, Lancet Oncol 2021;22:813 &amp; 2026;27:45 · Mellinghoff IK, NEJM 2023;389:589 · Mohile NA, J Clin Oncol 2022;40:403 · Park YW, Korean J Radiol 2026 (in press)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o Black">
  <a:themeElements>
    <a:clrScheme name="Neuro Black">
      <a:dk1>
        <a:srgbClr val="000000"/>
      </a:dk1>
      <a:lt1>
        <a:srgbClr val="FFFFFF"/>
      </a:lt1>
      <a:dk2>
        <a:srgbClr val="1A1A1A"/>
      </a:dk2>
      <a:lt2>
        <a:srgbClr val="BFBFBF"/>
      </a:lt2>
      <a:accent1>
        <a:srgbClr val="FFC000"/>
      </a:accent1>
      <a:accent2>
        <a:srgbClr val="E36C0A"/>
      </a:accent2>
      <a:accent3>
        <a:srgbClr val="5B9BD5"/>
      </a:accent3>
      <a:accent4>
        <a:srgbClr val="C00000"/>
      </a:accent4>
      <a:accent5>
        <a:srgbClr val="A6A6A6"/>
      </a:accent5>
      <a:accent6>
        <a:srgbClr val="70AD47"/>
      </a:accent6>
      <a:hlink>
        <a:srgbClr val="FFC000"/>
      </a:hlink>
      <a:folHlink>
        <a:srgbClr val="E36C0A"/>
      </a:folHlink>
    </a:clrScheme>
    <a:fontScheme name="Neuro Blac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cIMPACT-NOW update 12 – IDH-mutant astrocytoma grading</dc:title>
  <dc:subject>PptxGenJS Presentation</dc:subject>
  <dc:creator>PptxGenJS</dc:creator>
  <cp:lastModifiedBy>PptxGenJS</cp:lastModifiedBy>
  <cp:revision>1</cp:revision>
  <dcterms:created xsi:type="dcterms:W3CDTF">2026-10-14T10:56:54Z</dcterms:created>
  <dcterms:modified xsi:type="dcterms:W3CDTF">2026-10-14T10:56:54Z</dcterms:modified>
</cp:coreProperties>
</file>